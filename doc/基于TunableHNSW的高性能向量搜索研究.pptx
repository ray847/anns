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38052-8F7C-35DF-EBFE-4E4DE4BE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0F45B8-FAA0-58E3-0C4C-50A59F116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06C3A5-E172-4CC9-EE16-BCF3E283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721E9C-A6C7-8DE7-105D-8844A228B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9B0DBF-FAA1-02C7-3A96-3E90C25D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208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D3106-E197-7AB0-D5E6-3B53C876D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161D4-D600-00A4-DC65-6898D872B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E6E657-EB5E-D6FE-6FAE-B0C06C4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E4D045-EF5D-2667-F233-086A9241C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939B7A-D5F6-A9D8-2BB4-FB603EF4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71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BC8A0-87AB-90FF-E95B-62E012DB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04DF44-AC7E-31B6-2115-443BDA997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47FBB-E814-B9BD-0E9A-8E2F6E083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22F59-BE9E-F59F-6BF9-D0CF206C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BC9E0-9BF9-A223-8E51-D8C306449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40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07BE5-55AB-6944-8AB3-2C90719D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C73F2A-8AEB-D775-F3B0-2BF5B3993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150E19-58DF-42EA-A0FF-9C3E2452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B1E733-8EA2-CA04-DA31-BEED3D62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F23AF7-DE30-8940-C231-198D6E73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3B5E4E-5ED9-3BA8-13A9-DB12EE3D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0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154B9-6722-995D-ED52-72A5D2F0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184EC2-94F3-A3D3-994D-9B8B9B6B1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0C68A2-62BF-A37C-58DA-9BE18D7D6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4F5968-A5BE-360F-2CE1-4EB92F109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07D8A6-B393-DFBF-CD33-80689DF08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40C4E5-C66B-4E6B-551F-1D797F12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672CB8-9F1B-9A46-56E9-64EDECC1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2ADE85-16FB-4656-DB76-800AA91C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74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0E57A-30DE-137C-5D76-FA429283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9C966A-FAB5-01AE-F54C-4D130338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C90646-75AD-BDB2-E20C-D15E491E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6C461B-E1D2-FFE7-7156-1923DE8C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36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B5A55F-C91E-E88E-D53C-B7664B6A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F0D3B8-A96F-61B4-67F5-7FD74E616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D6269-37B5-7531-F6DA-B36AD85F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3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B4D7F-D5CC-1D6A-5D11-2D48CAE2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BAC981-5E3F-4C71-FE3F-F6692453C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9AC70-5419-5049-7673-4A2C24BAE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26EE55-F315-8D34-7867-43B22F832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D72996-CF9B-EE0C-A9A1-3BED597C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073F8D-E0FE-1E6C-D6C1-F632B5EC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8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69AAD8-5855-47E6-F3DF-D4407A51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F7332D-2D49-B797-4CA6-6710C8A19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2BF24-D6AF-7EA9-F4EA-56CEA957B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632659-5C32-F2CC-9891-97B48169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46404-3C59-CD90-11AF-BF49BDD7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6FD5D-FBE8-E2FC-1D03-525C8E7C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37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878DE-CD65-58F6-8DAB-D9B41AB6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C95517-DC47-A146-82A1-7C23786DB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A3FC6-273A-6B2B-54CA-9340534C3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6B7338-B8E6-3518-A35A-1E65DEF11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605142-0B5A-7E84-926C-BA4434C9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1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9833BB-9BFB-C976-2F7A-6E0AB8A20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BF118D-08D9-6C20-8C16-7F5CC1EEC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A0684-B33F-3D14-B5A5-81D115F5C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CB7F3-39D8-4084-6A82-741BCEBB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AD1373-978C-9C6E-ABA1-8BDEAC4E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79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288E36-FE2A-699E-7AFD-EA62C30C5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087BF-4D22-81AE-808B-C46D1FE9B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DE51B3-CCD9-DFEC-F706-A47EE02939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DA1D6-F75D-4941-9C33-B21505C94443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9B984-390E-9298-4317-320800119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D6756-D060-3483-386D-F2159FE09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6FDC4-738A-421A-B4F0-2AC6941E1B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903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11E3C-753C-C9B1-8EF8-107B1B232E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基于</a:t>
            </a:r>
            <a:r>
              <a:rPr lang="en-US" altLang="zh-CN" sz="5400" dirty="0" err="1"/>
              <a:t>TunableHNSW</a:t>
            </a:r>
            <a:r>
              <a:rPr lang="zh-CN" altLang="en-US" sz="5400" dirty="0"/>
              <a:t>的高性能向量搜索研究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7C7B4F-6C44-51B3-FAAF-8855C16CCF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ANNS </a:t>
            </a:r>
            <a:r>
              <a:rPr lang="zh-CN" altLang="en-US" dirty="0"/>
              <a:t>项目实验报告</a:t>
            </a:r>
            <a:endParaRPr lang="en-US" altLang="zh-CN" dirty="0"/>
          </a:p>
          <a:p>
            <a:r>
              <a:rPr lang="en-US" altLang="zh-CN" dirty="0"/>
              <a:t>2025</a:t>
            </a:r>
            <a:r>
              <a:rPr lang="zh-CN" altLang="en-US" dirty="0"/>
              <a:t>秋 数据结构（</a:t>
            </a:r>
            <a:r>
              <a:rPr lang="en-US" altLang="zh-CN" dirty="0"/>
              <a:t>H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夏澄奕 </a:t>
            </a:r>
            <a:r>
              <a:rPr lang="en-US" altLang="zh-CN" dirty="0"/>
              <a:t>24302010011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25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62323-97DF-5F22-FDC1-FA7DDB3C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项目背景与任务定义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CEE6F1-58AB-060B-70A3-97B6200AE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核心任务：从</a:t>
            </a:r>
            <a:r>
              <a:rPr lang="en-US" altLang="zh-CN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D</a:t>
            </a:r>
            <a:r>
              <a:rPr lang="zh-CN" altLang="en-US" dirty="0"/>
              <a:t>维向量集</a:t>
            </a:r>
            <a:r>
              <a:rPr lang="en-US" altLang="zh-CN" dirty="0"/>
              <a:t>S</a:t>
            </a:r>
            <a:r>
              <a:rPr lang="zh-CN" altLang="en-US" dirty="0"/>
              <a:t>中，找到与查询向量</a:t>
            </a:r>
            <a:r>
              <a:rPr lang="en-US" altLang="zh-CN" dirty="0"/>
              <a:t>q</a:t>
            </a:r>
            <a:r>
              <a:rPr lang="zh-CN" altLang="en-US" dirty="0"/>
              <a:t>欧氏距离最近的</a:t>
            </a:r>
            <a:r>
              <a:rPr lang="en-US" altLang="zh-CN" dirty="0"/>
              <a:t>10</a:t>
            </a:r>
            <a:r>
              <a:rPr lang="zh-CN" altLang="en-US" dirty="0"/>
              <a:t>个向量。</a:t>
            </a:r>
            <a:endParaRPr lang="en-US" altLang="zh-CN" dirty="0"/>
          </a:p>
          <a:p>
            <a:r>
              <a:rPr lang="zh-CN" altLang="en-US" dirty="0"/>
              <a:t>挑战与对策：精确搜索成本过高，采用近似最近邻搜索（</a:t>
            </a:r>
            <a:r>
              <a:rPr lang="en-US" altLang="zh-CN" dirty="0"/>
              <a:t>ANNS</a:t>
            </a:r>
            <a:r>
              <a:rPr lang="zh-CN" altLang="en-US" dirty="0"/>
              <a:t>）。在召回率和搜索延迟之间寻找平衡，实现远优于</a:t>
            </a:r>
            <a:r>
              <a:rPr lang="en-US" altLang="zh-CN" dirty="0"/>
              <a:t>O(N)</a:t>
            </a:r>
            <a:r>
              <a:rPr lang="zh-CN" altLang="en-US" dirty="0"/>
              <a:t>的复杂度。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715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9DAFA-4458-2BAD-A1B1-1155E2C8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TunableHNSW</a:t>
            </a:r>
            <a:r>
              <a:rPr lang="zh-CN" altLang="en-US" dirty="0"/>
              <a:t>系统框架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084B13-68FE-C8AD-0C52-90D7D3B3B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设计理念：模块化、可扩展的测试框架，支持参数与优化选项的灵活配置。</a:t>
            </a:r>
            <a:endParaRPr lang="en-US" altLang="zh-CN" dirty="0"/>
          </a:p>
          <a:p>
            <a:r>
              <a:rPr lang="zh-CN" altLang="en-US" dirty="0"/>
              <a:t>核心模块：</a:t>
            </a:r>
            <a:endParaRPr lang="en-US" altLang="zh-CN" dirty="0"/>
          </a:p>
          <a:p>
            <a:pPr lvl="1"/>
            <a:r>
              <a:rPr lang="zh-CN" altLang="en-US" dirty="0"/>
              <a:t>算法实现：</a:t>
            </a:r>
            <a:r>
              <a:rPr lang="en-US" altLang="zh-CN" dirty="0" err="1"/>
              <a:t>HNSW.h</a:t>
            </a:r>
            <a:r>
              <a:rPr lang="en-US" altLang="zh-CN" dirty="0"/>
              <a:t>, </a:t>
            </a:r>
            <a:r>
              <a:rPr lang="en-US" altLang="zh-CN" dirty="0" err="1"/>
              <a:t>IVF.h</a:t>
            </a:r>
            <a:r>
              <a:rPr lang="en-US" altLang="zh-CN" dirty="0"/>
              <a:t>, </a:t>
            </a:r>
            <a:r>
              <a:rPr lang="en-US" altLang="zh-CN" dirty="0" err="1"/>
              <a:t>PQ.h</a:t>
            </a:r>
            <a:r>
              <a:rPr lang="en-US" altLang="zh-CN" dirty="0"/>
              <a:t>, …</a:t>
            </a:r>
          </a:p>
          <a:p>
            <a:pPr lvl="1"/>
            <a:r>
              <a:rPr lang="en-US" altLang="zh-CN" dirty="0"/>
              <a:t>Solution</a:t>
            </a:r>
            <a:r>
              <a:rPr lang="zh-CN" altLang="en-US" dirty="0"/>
              <a:t>配置：</a:t>
            </a:r>
            <a:r>
              <a:rPr lang="en-US" altLang="zh-CN" dirty="0" err="1"/>
              <a:t>Config.h</a:t>
            </a:r>
            <a:endParaRPr lang="en-US" altLang="zh-CN" dirty="0"/>
          </a:p>
          <a:p>
            <a:pPr lvl="1"/>
            <a:r>
              <a:rPr lang="zh-CN" altLang="en-US" dirty="0"/>
              <a:t>部分测试指标：</a:t>
            </a:r>
            <a:r>
              <a:rPr lang="en-US" altLang="zh-CN" dirty="0" err="1"/>
              <a:t>Metrics,h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9746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1D883-0311-F2DA-A48F-7C19726F7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核心算法：</a:t>
            </a:r>
            <a:r>
              <a:rPr lang="en-US" altLang="zh-CN" dirty="0"/>
              <a:t>HNSW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8432F1-BA46-001E-1C78-469F44FC18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基本原理：利用跳表的思想，在高层图中进行长距离跳转，快速逼近目标，在底层进行精细搜索。</a:t>
                </a:r>
                <a:endParaRPr lang="en-US" altLang="zh-CN" dirty="0"/>
              </a:p>
              <a:p>
                <a:r>
                  <a:rPr lang="zh-CN" altLang="en-US" dirty="0"/>
                  <a:t>复杂度分析：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建图复杂度：</a:t>
                </a:r>
                <a:r>
                  <a:rPr lang="en-US" altLang="zh-CN" dirty="0"/>
                  <a:t>O(</a:t>
                </a:r>
                <a:r>
                  <a:rPr lang="en-US" altLang="zh-CN" dirty="0" err="1"/>
                  <a:t>NlogN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搜索复杂度：</a:t>
                </a:r>
                <a:r>
                  <a:rPr lang="en-US" altLang="zh-CN" dirty="0"/>
                  <a:t>O(</a:t>
                </a:r>
                <a:r>
                  <a:rPr lang="en-US" altLang="zh-CN" dirty="0" err="1"/>
                  <a:t>logN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（主要来自高层图导航）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实际搜索复杂度：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 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 + 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𝐸𝑓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𝐸𝑓</m:t>
                            </m:r>
                          </m:e>
                        </m:func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 + 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 − 1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8432F1-BA46-001E-1C78-469F44FC18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1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26DD4-93C5-F2D5-69D4-E6F7260F1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全局工程优化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F5797-0E35-5D30-0F79-C90252C8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SIMD</a:t>
            </a:r>
            <a:r>
              <a:rPr lang="zh-CN" altLang="en-US" dirty="0"/>
              <a:t>指令集加速</a:t>
            </a:r>
            <a:endParaRPr lang="en-US" altLang="zh-CN" dirty="0"/>
          </a:p>
          <a:p>
            <a:r>
              <a:rPr lang="zh-CN" altLang="en-US" dirty="0"/>
              <a:t>图存储扁平化</a:t>
            </a:r>
            <a:endParaRPr lang="en-US" altLang="zh-CN" dirty="0"/>
          </a:p>
          <a:p>
            <a:r>
              <a:rPr lang="zh-CN" altLang="en-US" dirty="0"/>
              <a:t>内存预取：图导航过程中预取邻居节点的数据</a:t>
            </a:r>
            <a:endParaRPr lang="en-US" altLang="zh-CN" dirty="0"/>
          </a:p>
          <a:p>
            <a:r>
              <a:rPr lang="zh-CN" altLang="en-US" dirty="0"/>
              <a:t>多线程建图</a:t>
            </a:r>
            <a:endParaRPr lang="en-US" altLang="zh-CN" dirty="0"/>
          </a:p>
          <a:p>
            <a:r>
              <a:rPr lang="zh-CN" altLang="en-US" dirty="0"/>
              <a:t>启发式剪枝：基于</a:t>
            </a:r>
            <a:r>
              <a:rPr lang="en-US" altLang="zh-CN" dirty="0"/>
              <a:t>RNG</a:t>
            </a:r>
            <a:r>
              <a:rPr lang="zh-CN" altLang="en-US" dirty="0"/>
              <a:t>的建图中剪枝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177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26C06-F0D4-5FE0-D48F-FDE09896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有效优化策略：适应性</a:t>
            </a:r>
            <a:r>
              <a:rPr lang="en-US" altLang="zh-CN" dirty="0"/>
              <a:t>Beam Search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96CF7-D5DA-3BCB-878F-217DB115A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引入动态早停机制，不完全以来固定的</a:t>
            </a:r>
            <a:r>
              <a:rPr lang="en-US" altLang="zh-CN" dirty="0" err="1"/>
              <a:t>EfSearch</a:t>
            </a:r>
            <a:r>
              <a:rPr lang="zh-CN" altLang="en-US" dirty="0"/>
              <a:t>参数，当前</a:t>
            </a:r>
            <a:r>
              <a:rPr lang="en-US" altLang="zh-CN" dirty="0"/>
              <a:t>10</a:t>
            </a:r>
            <a:r>
              <a:rPr lang="zh-CN" altLang="en-US" dirty="0"/>
              <a:t>个候选点经过一定循环次数都没有变化时直接返回这</a:t>
            </a:r>
            <a:r>
              <a:rPr lang="en-US" altLang="zh-CN" dirty="0"/>
              <a:t>10</a:t>
            </a:r>
            <a:r>
              <a:rPr lang="zh-CN" altLang="en-US" dirty="0"/>
              <a:t>个后选点。</a:t>
            </a:r>
            <a:endParaRPr lang="en-US" altLang="zh-CN" dirty="0"/>
          </a:p>
          <a:p>
            <a:r>
              <a:rPr lang="zh-CN" altLang="en-US" dirty="0"/>
              <a:t>搜索延时提升</a:t>
            </a:r>
            <a:r>
              <a:rPr lang="en-US" altLang="zh-CN"/>
              <a:t>~10%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8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899C13-3942-DDEE-9034-D2ECE987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有效优化策略：</a:t>
            </a:r>
            <a:r>
              <a:rPr lang="en-US" altLang="zh-CN" dirty="0"/>
              <a:t>std::</a:t>
            </a:r>
            <a:r>
              <a:rPr lang="en-US" altLang="zh-CN" dirty="0" err="1"/>
              <a:t>pmr</a:t>
            </a:r>
            <a:r>
              <a:rPr lang="zh-CN" altLang="en-US" dirty="0"/>
              <a:t>内存布局优化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A0ED1-BC9A-A150-3E93-56B0867FF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std::</a:t>
            </a:r>
            <a:r>
              <a:rPr lang="en-US" altLang="zh-CN" dirty="0" err="1"/>
              <a:t>pmr</a:t>
            </a:r>
            <a:r>
              <a:rPr lang="en-US" altLang="zh-CN" dirty="0"/>
              <a:t>::</a:t>
            </a:r>
            <a:r>
              <a:rPr lang="en-US" altLang="zh-CN" dirty="0" err="1"/>
              <a:t>synchronized_pool_resource</a:t>
            </a:r>
            <a:r>
              <a:rPr lang="zh-CN" altLang="en-US" dirty="0"/>
              <a:t>替代默认的系统堆内存分配，提高申请内存速度和内存局部性。</a:t>
            </a:r>
            <a:endParaRPr lang="en-US" altLang="zh-CN" dirty="0"/>
          </a:p>
          <a:p>
            <a:r>
              <a:rPr lang="zh-CN" altLang="en-US" dirty="0"/>
              <a:t>总体搜索延时提升</a:t>
            </a:r>
            <a:r>
              <a:rPr lang="en-US" altLang="zh-CN" dirty="0"/>
              <a:t>30%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792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9528C-337C-E805-A4DB-C02A3026B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无效或负面优化：量化（</a:t>
            </a:r>
            <a:r>
              <a:rPr lang="en-US" altLang="zh-CN" dirty="0"/>
              <a:t>PQ</a:t>
            </a:r>
            <a:r>
              <a:rPr lang="zh-CN" altLang="en-US" dirty="0"/>
              <a:t>，</a:t>
            </a:r>
            <a:r>
              <a:rPr lang="en-US" altLang="zh-CN" dirty="0"/>
              <a:t>OPQ</a:t>
            </a:r>
            <a:r>
              <a:rPr lang="zh-CN" altLang="en-US" dirty="0"/>
              <a:t>，</a:t>
            </a:r>
            <a:r>
              <a:rPr lang="en-US" altLang="zh-CN" dirty="0"/>
              <a:t>SQ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3A2E7-A0EA-CCB9-72D4-6BD6B3C4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PQ</a:t>
            </a:r>
            <a:r>
              <a:rPr lang="zh-CN" altLang="en-US" dirty="0"/>
              <a:t>和</a:t>
            </a:r>
            <a:r>
              <a:rPr lang="en-US" altLang="zh-CN" dirty="0"/>
              <a:t>OPQ</a:t>
            </a:r>
            <a:r>
              <a:rPr lang="zh-CN" altLang="en-US" dirty="0"/>
              <a:t>优化即使增加</a:t>
            </a:r>
            <a:r>
              <a:rPr lang="en-US" altLang="zh-CN" dirty="0" err="1"/>
              <a:t>rerank</a:t>
            </a:r>
            <a:r>
              <a:rPr lang="zh-CN" altLang="en-US" dirty="0"/>
              <a:t>步骤都使搜索精度大幅下降。</a:t>
            </a:r>
            <a:endParaRPr lang="en-US" altLang="zh-CN" dirty="0"/>
          </a:p>
          <a:p>
            <a:pPr lvl="1"/>
            <a:r>
              <a:rPr lang="zh-CN" altLang="en-US" dirty="0"/>
              <a:t>根据</a:t>
            </a:r>
            <a:r>
              <a:rPr lang="en-US" altLang="zh-CN" dirty="0"/>
              <a:t>Johnson-</a:t>
            </a:r>
            <a:r>
              <a:rPr lang="en-US" altLang="zh-CN" dirty="0" err="1"/>
              <a:t>Lindenstrauss</a:t>
            </a:r>
            <a:r>
              <a:rPr lang="zh-CN" altLang="en-US" dirty="0"/>
              <a:t>引理可以计算得所有维度压缩得量化方法在</a:t>
            </a:r>
            <a:r>
              <a:rPr lang="en-US" altLang="zh-CN" dirty="0"/>
              <a:t>SIFT-1m</a:t>
            </a:r>
            <a:r>
              <a:rPr lang="zh-CN" altLang="en-US" dirty="0"/>
              <a:t>和</a:t>
            </a:r>
            <a:r>
              <a:rPr lang="en-US" altLang="zh-CN" dirty="0" err="1"/>
              <a:t>GloVe</a:t>
            </a:r>
            <a:r>
              <a:rPr lang="zh-CN" altLang="en-US" dirty="0"/>
              <a:t>数据集上有损失上界</a:t>
            </a:r>
            <a:r>
              <a:rPr lang="en-US" altLang="zh-CN" dirty="0"/>
              <a:t>92%</a:t>
            </a:r>
            <a:r>
              <a:rPr lang="zh-CN" altLang="en-US" dirty="0"/>
              <a:t>和</a:t>
            </a:r>
            <a:r>
              <a:rPr lang="en-US" altLang="zh-CN" dirty="0"/>
              <a:t>106%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搜索性能损失</a:t>
            </a:r>
            <a:r>
              <a:rPr lang="en-US" altLang="zh-CN" dirty="0"/>
              <a:t>~40%</a:t>
            </a:r>
          </a:p>
          <a:p>
            <a:r>
              <a:rPr lang="en-US" altLang="zh-CN" dirty="0"/>
              <a:t>SQ16</a:t>
            </a:r>
            <a:r>
              <a:rPr lang="zh-CN" altLang="en-US" dirty="0"/>
              <a:t>量化对搜索精度没有显著影响，延时增加</a:t>
            </a:r>
            <a:r>
              <a:rPr lang="en-US" altLang="zh-CN" dirty="0"/>
              <a:t>~200%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2672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BA47E-2428-6B64-A107-0E9583CB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无效或负面优化：倒排文件索引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39E644-D98E-69FF-3BC4-A2AF4D602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尝试通过</a:t>
            </a:r>
            <a:r>
              <a:rPr lang="en-US" altLang="zh-CN" dirty="0"/>
              <a:t>K-Means</a:t>
            </a:r>
            <a:r>
              <a:rPr lang="zh-CN" altLang="en-US" dirty="0"/>
              <a:t>聚类减少数据集大小，并对候选的簇进行</a:t>
            </a:r>
            <a:r>
              <a:rPr lang="en-US" altLang="zh-CN" dirty="0"/>
              <a:t>BF</a:t>
            </a:r>
            <a:r>
              <a:rPr lang="zh-CN" altLang="en-US" dirty="0"/>
              <a:t>搜索。</a:t>
            </a:r>
            <a:endParaRPr lang="en-US" altLang="zh-CN" dirty="0"/>
          </a:p>
          <a:p>
            <a:r>
              <a:rPr lang="zh-CN" altLang="en-US" dirty="0"/>
              <a:t>由于</a:t>
            </a:r>
            <a:r>
              <a:rPr lang="en-US" altLang="zh-CN" dirty="0"/>
              <a:t>SIFT-1m</a:t>
            </a:r>
            <a:r>
              <a:rPr lang="zh-CN" altLang="en-US" dirty="0"/>
              <a:t>和</a:t>
            </a:r>
            <a:r>
              <a:rPr lang="en-US" altLang="zh-CN" dirty="0" err="1"/>
              <a:t>GloVe</a:t>
            </a:r>
            <a:r>
              <a:rPr lang="zh-CN" altLang="en-US" dirty="0"/>
              <a:t>数据集分布比较均匀，难以找到合适的</a:t>
            </a:r>
            <a:r>
              <a:rPr lang="en-US" altLang="zh-CN" dirty="0"/>
              <a:t>K-Means</a:t>
            </a:r>
            <a:r>
              <a:rPr lang="zh-CN" altLang="en-US" dirty="0"/>
              <a:t>参数使得对数据集做到很好的聚类。</a:t>
            </a:r>
            <a:endParaRPr lang="en-US" altLang="zh-CN" dirty="0"/>
          </a:p>
          <a:p>
            <a:r>
              <a:rPr lang="zh-CN" altLang="en-US" dirty="0"/>
              <a:t>尝试使用软聚类的方法，也使性能下降。</a:t>
            </a:r>
          </a:p>
        </p:txBody>
      </p:sp>
    </p:spTree>
    <p:extLst>
      <p:ext uri="{BB962C8B-B14F-4D97-AF65-F5344CB8AC3E}">
        <p14:creationId xmlns:p14="http://schemas.microsoft.com/office/powerpoint/2010/main" val="70153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74A06-C9E3-EA30-47A8-380759961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无效或负面优化分析：高层</a:t>
            </a:r>
            <a:r>
              <a:rPr lang="en-US" altLang="zh-CN" dirty="0"/>
              <a:t>Beam Search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5DAAFE-F95F-C62E-B7F2-7950DE0DE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尝试将</a:t>
            </a:r>
            <a:r>
              <a:rPr lang="en-US" altLang="zh-CN" dirty="0"/>
              <a:t>HNSW</a:t>
            </a:r>
            <a:r>
              <a:rPr lang="zh-CN" altLang="en-US" dirty="0"/>
              <a:t>上层导航的贪心搜索替换为</a:t>
            </a:r>
            <a:r>
              <a:rPr lang="en-US" altLang="zh-CN" dirty="0" err="1"/>
              <a:t>ef</a:t>
            </a:r>
            <a:r>
              <a:rPr lang="zh-CN" altLang="en-US" dirty="0"/>
              <a:t>较小的</a:t>
            </a:r>
            <a:r>
              <a:rPr lang="en-US" altLang="zh-CN" dirty="0"/>
              <a:t>Beam Search</a:t>
            </a:r>
            <a:r>
              <a:rPr lang="zh-CN" altLang="en-US" dirty="0"/>
              <a:t>，在进入第</a:t>
            </a:r>
            <a:r>
              <a:rPr lang="en-US" altLang="zh-CN" dirty="0"/>
              <a:t>0</a:t>
            </a:r>
            <a:r>
              <a:rPr lang="zh-CN" altLang="en-US" dirty="0"/>
              <a:t>层使从多个</a:t>
            </a:r>
            <a:r>
              <a:rPr lang="en-US" altLang="zh-CN" dirty="0"/>
              <a:t>Entry Point</a:t>
            </a:r>
            <a:r>
              <a:rPr lang="zh-CN" altLang="en-US" dirty="0"/>
              <a:t>开始搜索。问题在于：</a:t>
            </a:r>
            <a:endParaRPr lang="en-US" altLang="zh-CN" dirty="0"/>
          </a:p>
          <a:p>
            <a:pPr lvl="1"/>
            <a:r>
              <a:rPr lang="zh-CN" altLang="en-US" dirty="0"/>
              <a:t>高层的贪心导航已经可以导航到距离</a:t>
            </a:r>
            <a:r>
              <a:rPr lang="en-US" altLang="zh-CN" dirty="0"/>
              <a:t>Query</a:t>
            </a:r>
            <a:r>
              <a:rPr lang="zh-CN" altLang="en-US" dirty="0"/>
              <a:t>很近的向量，使用</a:t>
            </a:r>
            <a:r>
              <a:rPr lang="en-US" altLang="zh-CN" dirty="0"/>
              <a:t>Beam Search</a:t>
            </a:r>
            <a:r>
              <a:rPr lang="zh-CN" altLang="en-US" dirty="0"/>
              <a:t>不能引入更优的</a:t>
            </a:r>
            <a:r>
              <a:rPr lang="en-US" altLang="zh-CN" dirty="0"/>
              <a:t>Entry Point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高层导航的目的是为了快速逼近</a:t>
            </a:r>
            <a:r>
              <a:rPr lang="en-US" altLang="zh-CN" dirty="0"/>
              <a:t>Query</a:t>
            </a:r>
            <a:r>
              <a:rPr lang="zh-CN" altLang="en-US" dirty="0"/>
              <a:t>；而第</a:t>
            </a:r>
            <a:r>
              <a:rPr lang="en-US" altLang="zh-CN" dirty="0"/>
              <a:t>0</a:t>
            </a:r>
            <a:r>
              <a:rPr lang="zh-CN" altLang="en-US" dirty="0"/>
              <a:t>层的导航目的使为了找到绝对最优的</a:t>
            </a:r>
            <a:r>
              <a:rPr lang="en-US" altLang="zh-CN" dirty="0"/>
              <a:t>10</a:t>
            </a:r>
            <a:r>
              <a:rPr lang="zh-CN" altLang="en-US" dirty="0"/>
              <a:t>个向量，有一个扩散的过程。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74190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C6E61-D740-72C1-85EE-D9960D26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测试结果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5158CF2-99E7-3D57-A193-D6E90AFCF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81121"/>
              </p:ext>
            </p:extLst>
          </p:nvPr>
        </p:nvGraphicFramePr>
        <p:xfrm>
          <a:off x="838200" y="1367155"/>
          <a:ext cx="10515600" cy="5125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082595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9148215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175467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387259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445634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78463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Build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Search Time (</a:t>
                      </a:r>
                      <a:r>
                        <a:rPr lang="en-US" altLang="zh-CN" dirty="0" err="1"/>
                        <a:t>ms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Accuracy (%)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Layer 0 Search Time (%)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Average Distance Calculation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704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Brute Force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0.56 / 0.53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129.07 / 132.05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290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320.57 / 2766.08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0.45 / 2.89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99.30 / 99.44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94.73 / 88.45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200112.88 / 2186990.68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67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 + Dynamic Search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343.11 / 2762.14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0.54 / 2.35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99.01 / 99.13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94.86 / 97.96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199805.65 / 2182272.66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2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 + OPQ8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396.31 / 2780.98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0.73 / 4.11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98.96 / 98.49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86.76 / 95.60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199933.72 / 2190428.08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8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 + SQ16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335.21 / 2774.81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1.76 / 8.26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99.29 / 98.49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95.13 / 97.67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199630.58 / 2184929.68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630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 + IVF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8.39 / 12.08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1.85 / 6.37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85.48 / 72.71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2.33 / 2.20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3161.53 / 4275.26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67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HNSW + PMR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317.93 / 2635.42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0.47 / 3.09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99.32 / 99.43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95.23 / 98.54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199481.95 / 2186556.45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400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44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724</Words>
  <Application>Microsoft Office PowerPoint</Application>
  <PresentationFormat>宽屏</PresentationFormat>
  <Paragraphs>93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Office 主题​​</vt:lpstr>
      <vt:lpstr>基于TunableHNSW的高性能向量搜索研究</vt:lpstr>
      <vt:lpstr>项目背景与任务定义</vt:lpstr>
      <vt:lpstr>TunableHNSW系统框架</vt:lpstr>
      <vt:lpstr>核心算法：HNSW</vt:lpstr>
      <vt:lpstr>全局工程优化</vt:lpstr>
      <vt:lpstr>有效优化策略：适应性Beam Search</vt:lpstr>
      <vt:lpstr>有效优化策略：std::pmr内存布局优化</vt:lpstr>
      <vt:lpstr>无效或负面优化：量化（PQ，OPQ，SQ）</vt:lpstr>
      <vt:lpstr>无效或负面优化：倒排文件索引</vt:lpstr>
      <vt:lpstr>无效或负面优化分析：高层Beam Search</vt:lpstr>
      <vt:lpstr>测试结果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 Xia</dc:creator>
  <cp:lastModifiedBy>Ray Xia</cp:lastModifiedBy>
  <cp:revision>14</cp:revision>
  <dcterms:created xsi:type="dcterms:W3CDTF">2026-01-06T03:49:43Z</dcterms:created>
  <dcterms:modified xsi:type="dcterms:W3CDTF">2026-01-08T05:58:47Z</dcterms:modified>
</cp:coreProperties>
</file>